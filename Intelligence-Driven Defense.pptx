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72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9" r:id="rId14"/>
    <p:sldId id="270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BE09-484B-5F05-669D-048F44B60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3F98B-35A7-84D0-B943-7908ADBD8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B41D7-5816-85A4-190C-F5A268F7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E029-A3B5-41F5-9950-61918F1CEEA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E4290-D6B1-2808-DE13-A9C9F22D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43C1D-108D-7C2E-5A18-2AA4F8EA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4AD0-DD7A-42DB-A9BB-8981E41E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76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A4467-5DC7-A51A-2914-86BD5CCD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89E9F-8B28-5ACC-F44A-9792716AF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20891-6C02-5D31-F252-C74E05436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E029-A3B5-41F5-9950-61918F1CEEA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CC7D2-F5DB-F7A2-C36C-848809223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3C8F-C0D1-549F-75E0-1998E442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4AD0-DD7A-42DB-A9BB-8981E41E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3B41-7D5C-DF22-F7B6-228120CDE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CA4BE-4A81-D90D-6B67-8F8971940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4A24A-D6D7-AFB9-DAF0-07865DA4C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E029-A3B5-41F5-9950-61918F1CEEA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9B108-2735-ADA1-7B33-FC5BD1169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F685C-0485-174E-A15D-9E2D58D1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4AD0-DD7A-42DB-A9BB-8981E41E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02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1F5E-1DF0-C4AE-5EC3-825D66442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4AAB0-A886-06A3-E68E-C596DA22E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9CA2-D66C-CA9E-1F61-27AF7C5E8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9E68D-3786-20BD-021D-8422EF71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E029-A3B5-41F5-9950-61918F1CEEA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A2086-76C2-78E0-48A9-88FEE6410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7280A-42C8-305A-FAB9-2BAC892A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4AD0-DD7A-42DB-A9BB-8981E41E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1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EF3B-E8C3-7697-7BC7-C64116C31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E5D16-FF37-DA17-D96F-077B73C64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10FA6-ADBA-B202-067E-355BB643D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452F51-4E07-D346-2CE0-960789B88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5170E-FBAF-CEBC-FEE0-38190C3C8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7D77B2-F9B9-C1C4-B83D-FEA741E93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E029-A3B5-41F5-9950-61918F1CEEA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3FB95A-FDD9-56C8-269E-A295EED86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0BAB50-C0D9-3DFD-81D7-9D20E121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4AD0-DD7A-42DB-A9BB-8981E41E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2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143F-1A8C-5706-34A9-1B3648DB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D0219-88DE-B6D8-190E-0143D33EF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E029-A3B5-41F5-9950-61918F1CEEA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DCAD3-BED6-B003-334C-A6A6B245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E7D9E-B943-1605-8CAB-B487CF7B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4AD0-DD7A-42DB-A9BB-8981E41E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12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86D6D4-A43E-9EE6-2B76-73F4153F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E029-A3B5-41F5-9950-61918F1CEEA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7DE65E-09A8-A5C3-248D-DDF5C9D00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34591-9965-1569-90A4-38308176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4AD0-DD7A-42DB-A9BB-8981E41E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99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DDD-2D6B-A7F7-8A24-28860331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35768-555C-5877-3F13-A6C813AA4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788BA-BA07-2AF0-0544-88F2C5A56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13D0F-0060-EDAB-9AB7-F2E00BA7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E029-A3B5-41F5-9950-61918F1CEEA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2E0CB-BCEF-7315-34F5-219942AAC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7249F-06E6-2955-969C-27B60C25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4AD0-DD7A-42DB-A9BB-8981E41E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1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E0CE-CC90-6383-147A-15B42815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AD649C-2EC9-F72A-2CFE-A9FAE047E8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D1276-2D31-030F-6D91-D3DA16E78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60423-5D8B-21BA-2697-8F31D3603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E029-A3B5-41F5-9950-61918F1CEEA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78D62-F18E-0F00-95CF-9DA3C756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101F4-6126-490E-43BF-5304894D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4AD0-DD7A-42DB-A9BB-8981E41E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9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E15D-EC78-4538-887B-3271D468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1BE30-EAA9-7CEC-5CFB-687D54A9B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C7622-5808-EC42-FA34-5F59F22C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E029-A3B5-41F5-9950-61918F1CEEA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2A618-9D85-312D-55B4-53E17AB2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6455B-3F03-77CB-01E8-86AB163E2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4AD0-DD7A-42DB-A9BB-8981E41E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7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22FC99-75A0-5CF7-6E69-60119D5282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F087C-80BB-0636-69C8-96163C0A2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6E710-C567-CCD1-88B9-01D4516F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E029-A3B5-41F5-9950-61918F1CEEA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7A8F4-6BCC-E3F2-3B03-65981CAE5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46C53-DE00-389E-5D07-FF15A6C3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4AD0-DD7A-42DB-A9BB-8981E41E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62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E8081A-A79C-5A96-C6EA-29279A4FF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A01C8-CBBF-0DCE-E7EA-992A9DCBB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640E5-65C1-D341-79D8-A286919C6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CE029-A3B5-41F5-9950-61918F1CEEA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9BC55-CD0D-910C-5249-CF8543218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E1A7D-7961-20CB-6DFE-B56BFD3B4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C4AD0-DD7A-42DB-A9BB-8981E41E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8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CA128-D09A-C8CC-F5CD-87FFC463E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6088" y="674493"/>
            <a:ext cx="9374155" cy="315105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002060"/>
                </a:solidFill>
                <a:latin typeface="Consolas" panose="020B0609020204030204" pitchFamily="49" charset="0"/>
              </a:rPr>
              <a:t>Intelligence-Driven Defense: CTI &amp; APTs Targeting FinTech in Egypt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2F43B-2B36-3756-9D46-307F6864C0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666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0B16-117C-07B4-CF21-54894F85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What is Cyber Threat Intelligence (CTI)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2D176-C1C8-90F5-6A42-5F1CA1DFB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20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</a:rPr>
              <a:t>CTI = Actionable knowledge about adversaries’ capabilities, intentions, and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07999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0C443-0EB9-E04A-8B82-87A144251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Why FinTech is a Prime Target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84358-7D7C-0AAD-C41F-C0B1E3493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Fully digital financial ecosystem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APIs and integrations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Fast innovation, new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High reward for attackers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45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71530-ED82-3924-A436-756905141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Threat Landscape in Egypt &amp; the Middle East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582F8-C224-1BE7-D7F7-C1E202905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APT34, APT39 (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OilRig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, Chafer) targeting regional finance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Lazarus APT38 crypto-focused campaigns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Arabic-language phishing mimicking banks/regulators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API-based attacks on payment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09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68A7-C24A-A4F4-7486-8D1AE099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How APTs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7CF94-56BE-A258-9D54-199449E7A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Reconnaissance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Initial access (phishing, exploits, credentials)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Lateral movement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Data exfiltration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Persistence</a:t>
            </a:r>
          </a:p>
        </p:txBody>
      </p:sp>
    </p:spTree>
    <p:extLst>
      <p:ext uri="{BB962C8B-B14F-4D97-AF65-F5344CB8AC3E}">
        <p14:creationId xmlns:p14="http://schemas.microsoft.com/office/powerpoint/2010/main" val="3240435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6186-46BC-96CB-D7DD-37566F5FC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What is CTI and Why It Matters for 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D18CB-16E8-E656-BBFE-403F79C07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CTI = Turning threat data into actionable defense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907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39860-E795-B985-2233-BBB4A16C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How the Intelligence Cycle Helps 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7CA8F-6FCD-3566-D633-4F61E3E5B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Planning – define questions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Collection – internal + external data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Analysis – correlation &amp; context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Action – use intel in detection &amp; response</a:t>
            </a:r>
          </a:p>
        </p:txBody>
      </p:sp>
    </p:spTree>
    <p:extLst>
      <p:ext uri="{BB962C8B-B14F-4D97-AF65-F5344CB8AC3E}">
        <p14:creationId xmlns:p14="http://schemas.microsoft.com/office/powerpoint/2010/main" val="2354225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DA74-373F-C70A-3948-1A96D30E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CTI in SOC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D0B96-C0E9-611A-8FB0-303852446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Enhance alert triage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Prioritize incidents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Enrich investigations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Update detection rules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429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37948-8AF4-62BB-B73F-1478280C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Threat Modeling for Egyptian FinTech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8D8BB-BE62-8E6F-6025-4D64D2282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Identify critical assets (APIs, mobile apps, databases)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Map attack vectors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Align defenses with MITRE ATT&amp;CK</a:t>
            </a:r>
          </a:p>
        </p:txBody>
      </p:sp>
    </p:spTree>
    <p:extLst>
      <p:ext uri="{BB962C8B-B14F-4D97-AF65-F5344CB8AC3E}">
        <p14:creationId xmlns:p14="http://schemas.microsoft.com/office/powerpoint/2010/main" val="796522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BEC14-E9AA-7B76-A551-1DDF5815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Hunting with CTI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5979C-F259-0785-0487-7D5659182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02060"/>
                </a:solidFill>
              </a:rPr>
              <a:t>Hypothesis-based hunting</a:t>
            </a:r>
          </a:p>
          <a:p>
            <a:r>
              <a:rPr lang="en-US" sz="3600" dirty="0">
                <a:solidFill>
                  <a:srgbClr val="002060"/>
                </a:solidFill>
              </a:rPr>
              <a:t>Use intel to focus hunts</a:t>
            </a:r>
          </a:p>
          <a:p>
            <a:r>
              <a:rPr lang="en-US" sz="3600" dirty="0">
                <a:solidFill>
                  <a:srgbClr val="002060"/>
                </a:solidFill>
              </a:rPr>
              <a:t>Learn and feedback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701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B8FD-7BC1-9721-FC67-04AD2CF4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Fawry</a:t>
            </a:r>
            <a:r>
              <a:rPr lang="en-US" dirty="0"/>
              <a:t> Data Breach (Egypt, 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E05A9-9C09-471D-F713-CAFC78FF9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02060"/>
                </a:solidFill>
              </a:rPr>
              <a:t>Case Study: </a:t>
            </a:r>
            <a:r>
              <a:rPr lang="en-US" sz="3200" b="1" dirty="0" err="1">
                <a:solidFill>
                  <a:srgbClr val="002060"/>
                </a:solidFill>
              </a:rPr>
              <a:t>Fawry</a:t>
            </a:r>
            <a:r>
              <a:rPr lang="en-US" sz="3200" b="1" dirty="0">
                <a:solidFill>
                  <a:srgbClr val="002060"/>
                </a:solidFill>
              </a:rPr>
              <a:t> Data Breach – Egypt (2023)</a:t>
            </a:r>
            <a:endParaRPr lang="en-US" sz="32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2060"/>
                </a:solidFill>
              </a:rPr>
              <a:t>LockBit</a:t>
            </a:r>
            <a:r>
              <a:rPr lang="en-US" sz="3200" dirty="0">
                <a:solidFill>
                  <a:srgbClr val="002060"/>
                </a:solidFill>
              </a:rPr>
              <a:t> ransomware claimed attack on </a:t>
            </a:r>
            <a:r>
              <a:rPr lang="en-US" sz="3200" dirty="0" err="1">
                <a:solidFill>
                  <a:srgbClr val="002060"/>
                </a:solidFill>
              </a:rPr>
              <a:t>Fawry</a:t>
            </a:r>
            <a:endParaRPr lang="en-US" sz="32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Breach in testing environment, not production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Limited non-financial data leaked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Exposed weakness: unprotected non-prod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345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7DA1-49B3-9797-00CC-1FD3C45C7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APT Attack: FinTech Egypt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5BEBA-FEC3-F1FF-E79C-52F2FA096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</a:rPr>
              <a:t>Simulated APT Attack on a FinTech Company (Egypt)</a:t>
            </a:r>
            <a:endParaRPr lang="en-US" sz="3200" dirty="0">
              <a:solidFill>
                <a:srgbClr val="002060"/>
              </a:solidFill>
            </a:endParaRPr>
          </a:p>
          <a:p>
            <a:r>
              <a:rPr lang="en-US" sz="3200" b="1" dirty="0">
                <a:solidFill>
                  <a:srgbClr val="002060"/>
                </a:solidFill>
              </a:rPr>
              <a:t>Stage 1:</a:t>
            </a:r>
            <a:r>
              <a:rPr lang="en-US" sz="3200" dirty="0">
                <a:solidFill>
                  <a:srgbClr val="002060"/>
                </a:solidFill>
              </a:rPr>
              <a:t> Recon &amp; Spear-phishing developer</a:t>
            </a:r>
          </a:p>
          <a:p>
            <a:r>
              <a:rPr lang="en-US" sz="3200" b="1" dirty="0">
                <a:solidFill>
                  <a:srgbClr val="002060"/>
                </a:solidFill>
              </a:rPr>
              <a:t>Stage 2:</a:t>
            </a:r>
            <a:r>
              <a:rPr lang="en-US" sz="3200" dirty="0">
                <a:solidFill>
                  <a:srgbClr val="002060"/>
                </a:solidFill>
              </a:rPr>
              <a:t> Initial access via malicious file or leaked API key</a:t>
            </a:r>
          </a:p>
          <a:p>
            <a:r>
              <a:rPr lang="en-US" sz="3200" b="1" dirty="0">
                <a:solidFill>
                  <a:srgbClr val="002060"/>
                </a:solidFill>
              </a:rPr>
              <a:t>Stage 3:</a:t>
            </a:r>
            <a:r>
              <a:rPr lang="en-US" sz="3200" dirty="0">
                <a:solidFill>
                  <a:srgbClr val="002060"/>
                </a:solidFill>
              </a:rPr>
              <a:t> Lateral movement &amp; credential dumping</a:t>
            </a:r>
          </a:p>
          <a:p>
            <a:r>
              <a:rPr lang="en-US" sz="3200" b="1" dirty="0">
                <a:solidFill>
                  <a:srgbClr val="002060"/>
                </a:solidFill>
              </a:rPr>
              <a:t>Stage 4:</a:t>
            </a:r>
            <a:r>
              <a:rPr lang="en-US" sz="3200" dirty="0">
                <a:solidFill>
                  <a:srgbClr val="002060"/>
                </a:solidFill>
              </a:rPr>
              <a:t> Data exfiltration / ransomware deployment</a:t>
            </a:r>
          </a:p>
          <a:p>
            <a:r>
              <a:rPr lang="en-US" sz="3200" b="1" dirty="0">
                <a:solidFill>
                  <a:srgbClr val="002060"/>
                </a:solidFill>
              </a:rPr>
              <a:t>Stage 5:</a:t>
            </a:r>
            <a:r>
              <a:rPr lang="en-US" sz="3200" dirty="0">
                <a:solidFill>
                  <a:srgbClr val="002060"/>
                </a:solidFill>
              </a:rPr>
              <a:t> SOC detects, correlates via CTI, responds via SOAR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021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90D78-51FC-C963-6D7C-AF73EE34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The Misconception: CTI = Just Feeds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E24EA-7855-E31F-0AE7-C06B44C19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</a:rPr>
              <a:t>Common CTI Misconception:</a:t>
            </a:r>
            <a:endParaRPr lang="en-US" sz="3200" dirty="0">
              <a:solidFill>
                <a:srgbClr val="002060"/>
              </a:solidFill>
            </a:endParaRPr>
          </a:p>
          <a:p>
            <a:r>
              <a:rPr lang="en-US" sz="3200" dirty="0">
                <a:solidFill>
                  <a:srgbClr val="002060"/>
                </a:solidFill>
              </a:rPr>
              <a:t>Many orgs treat CTI as IOCs feed → SIEM/EDR ingestion</a:t>
            </a:r>
          </a:p>
          <a:p>
            <a:r>
              <a:rPr lang="en-US" sz="3200" dirty="0">
                <a:solidFill>
                  <a:srgbClr val="002060"/>
                </a:solidFill>
              </a:rPr>
              <a:t>Result: noise, false positives, low business value</a:t>
            </a:r>
          </a:p>
          <a:p>
            <a:r>
              <a:rPr lang="en-US" sz="3200" dirty="0">
                <a:solidFill>
                  <a:srgbClr val="002060"/>
                </a:solidFill>
              </a:rPr>
              <a:t>CTI ≠ blocklist → CTI = context-driven decision system</a:t>
            </a:r>
          </a:p>
          <a:p>
            <a:r>
              <a:rPr lang="en-US" sz="3200" dirty="0">
                <a:solidFill>
                  <a:srgbClr val="002060"/>
                </a:solidFill>
              </a:rPr>
              <a:t>Tailor intelligence per stakeholder needs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735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BEDC6-0CAB-4AB9-ABF2-316FACFFC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Tailored CTI Per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DD16-568D-CB64-518C-9D7E0B1BA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SOC / IR:</a:t>
            </a:r>
            <a:r>
              <a:rPr lang="en-US" dirty="0">
                <a:solidFill>
                  <a:srgbClr val="002060"/>
                </a:solidFill>
              </a:rPr>
              <a:t> Weekly situational awareness</a:t>
            </a:r>
          </a:p>
          <a:p>
            <a:r>
              <a:rPr lang="en-US" dirty="0">
                <a:solidFill>
                  <a:srgbClr val="002060"/>
                </a:solidFill>
              </a:rPr>
              <a:t>Active campaigns</a:t>
            </a:r>
          </a:p>
          <a:p>
            <a:r>
              <a:rPr lang="en-US" dirty="0">
                <a:solidFill>
                  <a:srgbClr val="002060"/>
                </a:solidFill>
              </a:rPr>
              <a:t>New malware trends</a:t>
            </a:r>
          </a:p>
          <a:p>
            <a:r>
              <a:rPr lang="en-US" dirty="0">
                <a:solidFill>
                  <a:srgbClr val="002060"/>
                </a:solidFill>
              </a:rPr>
              <a:t>Actionable warnings</a:t>
            </a:r>
          </a:p>
          <a:p>
            <a:r>
              <a:rPr lang="en-US" b="1" dirty="0">
                <a:solidFill>
                  <a:srgbClr val="002060"/>
                </a:solidFill>
              </a:rPr>
              <a:t>Detection Engineering: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TTPs, not IOCs</a:t>
            </a:r>
          </a:p>
          <a:p>
            <a:r>
              <a:rPr lang="en-US" dirty="0">
                <a:solidFill>
                  <a:srgbClr val="002060"/>
                </a:solidFill>
              </a:rPr>
              <a:t>Threat profile by sector/geography/tech</a:t>
            </a:r>
          </a:p>
          <a:p>
            <a:r>
              <a:rPr lang="en-US" dirty="0">
                <a:solidFill>
                  <a:srgbClr val="002060"/>
                </a:solidFill>
              </a:rPr>
              <a:t>Gap analysis (rule vs TTP coverage)</a:t>
            </a:r>
          </a:p>
        </p:txBody>
      </p:sp>
    </p:spTree>
    <p:extLst>
      <p:ext uri="{BB962C8B-B14F-4D97-AF65-F5344CB8AC3E}">
        <p14:creationId xmlns:p14="http://schemas.microsoft.com/office/powerpoint/2010/main" val="3244412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C1F5-93D5-C268-7DC9-C5AC28B5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C82E6-B5AD-E21E-95B2-E18B33BE4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02060"/>
                </a:solidFill>
              </a:rPr>
              <a:t>Lessons Learned from Real &amp; Simulated Incidents:</a:t>
            </a:r>
            <a:endParaRPr lang="en-US" sz="32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Non-production = attack surface too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Continuous CTI integration is vital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SOC + Threat Intel = proactive defense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Local intel (Egypt/MENA) adds real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387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1EC5-F74A-E6DF-2CF6-FFCFB16E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046F6-241F-AD49-9573-8FF837074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FinTech = High-value target</a:t>
            </a:r>
            <a:br>
              <a:rPr lang="en-US" sz="3200" dirty="0">
                <a:solidFill>
                  <a:srgbClr val="002060"/>
                </a:solidFill>
              </a:rPr>
            </a:br>
            <a:r>
              <a:rPr lang="en-US" sz="3200" dirty="0">
                <a:solidFill>
                  <a:srgbClr val="002060"/>
                </a:solidFill>
              </a:rPr>
              <a:t>CTI = Predictive defense</a:t>
            </a:r>
            <a:br>
              <a:rPr lang="en-US" sz="3200" dirty="0">
                <a:solidFill>
                  <a:srgbClr val="002060"/>
                </a:solidFill>
              </a:rPr>
            </a:br>
            <a:r>
              <a:rPr lang="en-US" sz="3200" dirty="0">
                <a:solidFill>
                  <a:srgbClr val="002060"/>
                </a:solidFill>
              </a:rPr>
              <a:t>“Intelligence is not data… it’s understanding.”</a:t>
            </a:r>
          </a:p>
          <a:p>
            <a:endParaRPr lang="en-US" sz="32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“Threat Intelligence is not about knowing everything it’s about knowing what matters most to you.”</a:t>
            </a:r>
          </a:p>
        </p:txBody>
      </p:sp>
    </p:spTree>
    <p:extLst>
      <p:ext uri="{BB962C8B-B14F-4D97-AF65-F5344CB8AC3E}">
        <p14:creationId xmlns:p14="http://schemas.microsoft.com/office/powerpoint/2010/main" val="1374529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480</Words>
  <Application>Microsoft Office PowerPoint</Application>
  <PresentationFormat>Widescreen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 Theme</vt:lpstr>
      <vt:lpstr>Intelligence-Driven Defense: CTI &amp; APTs Targeting FinTech in Egypt</vt:lpstr>
      <vt:lpstr>What is Cyber Threat Intelligence (CTI)</vt:lpstr>
      <vt:lpstr>Why FinTech is a Prime Target ?</vt:lpstr>
      <vt:lpstr>Threat Landscape in Egypt &amp; the Middle East</vt:lpstr>
      <vt:lpstr>How APTs Work</vt:lpstr>
      <vt:lpstr>What is CTI and Why It Matters for SOC</vt:lpstr>
      <vt:lpstr>How the Intelligence Cycle Helps SOC</vt:lpstr>
      <vt:lpstr>CTI in SOC Operations</vt:lpstr>
      <vt:lpstr>Threat Modeling for Egyptian FinTech</vt:lpstr>
      <vt:lpstr>Threat Hunting with CTI</vt:lpstr>
      <vt:lpstr>Case Study: Fawry Data Breach (Egypt, 2023)</vt:lpstr>
      <vt:lpstr>Simulated APT Attack: FinTech Egypt Scenario</vt:lpstr>
      <vt:lpstr>The Misconception: CTI = Just Feeds</vt:lpstr>
      <vt:lpstr>Tailored CTI Per Team</vt:lpstr>
      <vt:lpstr>Lessons Learned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Ghada Abdel Wahab</dc:creator>
  <cp:lastModifiedBy>Ghada Abdel Wahab</cp:lastModifiedBy>
  <cp:revision>2</cp:revision>
  <dcterms:created xsi:type="dcterms:W3CDTF">2025-11-04T15:04:46Z</dcterms:created>
  <dcterms:modified xsi:type="dcterms:W3CDTF">2025-11-08T16:43:11Z</dcterms:modified>
</cp:coreProperties>
</file>