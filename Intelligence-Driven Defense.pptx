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1" r:id="rId3"/>
    <p:sldId id="257" r:id="rId4"/>
    <p:sldId id="258" r:id="rId5"/>
    <p:sldId id="272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9" r:id="rId15"/>
    <p:sldId id="270" r:id="rId16"/>
    <p:sldId id="267" r:id="rId17"/>
    <p:sldId id="268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CBE09-484B-5F05-669D-048F44B600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23F98B-35A7-84D0-B943-7908ADBD83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6B41D7-5816-85A4-190C-F5A268F77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CE029-A3B5-41F5-9950-61918F1CEEA2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5E4290-D6B1-2808-DE13-A9C9F22D6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443C1D-108D-7C2E-5A18-2AA4F8EA96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FC4AD0-DD7A-42DB-A9BB-8981E41EB4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22763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A4467-5DC7-A51A-2914-86BD5CCD49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589E9F-8B28-5ACC-F44A-9792716AF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020891-6C02-5D31-F252-C74E054363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CE029-A3B5-41F5-9950-61918F1CEEA2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4CC7D2-F5DB-F7A2-C36C-848809223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353C8F-C0D1-549F-75E0-1998E4421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FC4AD0-DD7A-42DB-A9BB-8981E41EB4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73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33B41-7D5C-DF22-F7B6-228120CDE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BCA4BE-4A81-D90D-6B67-8F89719405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84A24A-D6D7-AFB9-DAF0-07865DA4C9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CE029-A3B5-41F5-9950-61918F1CEEA2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69B108-2735-ADA1-7B33-FC5BD11698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CF685C-0485-174E-A15D-9E2D58D1D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FC4AD0-DD7A-42DB-A9BB-8981E41EB4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4028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701F5E-1DF0-C4AE-5EC3-825D66442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44AAB0-A886-06A3-E68E-C596DA22E8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3D9CA2-D66C-CA9E-1F61-27AF7C5E8F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59E68D-3786-20BD-021D-8422EF7172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CE029-A3B5-41F5-9950-61918F1CEEA2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0A2086-76C2-78E0-48A9-88FEE6410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E7280A-42C8-305A-FAB9-2BAC892AB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FC4AD0-DD7A-42DB-A9BB-8981E41EB4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4108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BEF3B-E8C3-7697-7BC7-C64116C31B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1E5D16-FF37-DA17-D96F-077B73C647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810FA6-ADBA-B202-067E-355BB643D3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2452F51-4E07-D346-2CE0-960789B88E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95170E-FBAF-CEBC-FEE0-38190C3C88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7D77B2-F9B9-C1C4-B83D-FEA741E93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CE029-A3B5-41F5-9950-61918F1CEEA2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53FB95A-FDD9-56C8-269E-A295EED86A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40BAB50-C0D9-3DFD-81D7-9D20E1213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FC4AD0-DD7A-42DB-A9BB-8981E41EB4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523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7143F-1A8C-5706-34A9-1B3648DBC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ED0219-88DE-B6D8-190E-0143D33EF5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CE029-A3B5-41F5-9950-61918F1CEEA2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FDCAD3-BED6-B003-334C-A6A6B2452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E7E7D9E-B943-1605-8CAB-B487CF7BA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FC4AD0-DD7A-42DB-A9BB-8981E41EB4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7121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86D6D4-A43E-9EE6-2B76-73F4153FC0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CE029-A3B5-41F5-9950-61918F1CEEA2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37DE65E-09A8-A5C3-248D-DDF5C9D00E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534591-9965-1569-90A4-383081762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FC4AD0-DD7A-42DB-A9BB-8981E41EB4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0997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6A7DDD-2D6B-A7F7-8A24-28860331A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F35768-555C-5877-3F13-A6C813AA4C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0788BA-BA07-2AF0-0544-88F2C5A562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513D0F-0060-EDAB-9AB7-F2E00BA7D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CE029-A3B5-41F5-9950-61918F1CEEA2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52E0CB-BCEF-7315-34F5-219942AAC4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E7249F-06E6-2955-969C-27B60C259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FC4AD0-DD7A-42DB-A9BB-8981E41EB4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812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6E0CE-CC90-6383-147A-15B42815B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4AD649C-2EC9-F72A-2CFE-A9FAE047E86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9D1276-2D31-030F-6D91-D3DA16E78C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660423-5D8B-21BA-2697-8F31D36037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CE029-A3B5-41F5-9950-61918F1CEEA2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778D62-F18E-0F00-95CF-9DA3C7563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C101F4-6126-490E-43BF-5304894DF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FC4AD0-DD7A-42DB-A9BB-8981E41EB4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4976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CE15D-EC78-4538-887B-3271D4684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81BE30-EAA9-7CEC-5CFB-687D54A9BA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0C7622-5808-EC42-FA34-5F59F22C4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CE029-A3B5-41F5-9950-61918F1CEEA2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A2A618-9D85-312D-55B4-53E17AB29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F6455B-3F03-77CB-01E8-86AB163E2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FC4AD0-DD7A-42DB-A9BB-8981E41EB4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95749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22FC99-75A0-5CF7-6E69-60119D5282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7F087C-80BB-0636-69C8-96163C0A27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F6E710-C567-CCD1-88B9-01D4516F3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CE029-A3B5-41F5-9950-61918F1CEEA2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47A8F4-6BCC-E3F2-3B03-65981CAE5C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746C53-DE00-389E-5D07-FF15A6C36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FC4AD0-DD7A-42DB-A9BB-8981E41EB4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462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E8081A-A79C-5A96-C6EA-29279A4FF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2A01C8-CBBF-0DCE-E7EA-992A9DCBBF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8640E5-65C1-D341-79D8-A286919C6D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1CE029-A3B5-41F5-9950-61918F1CEEA2}" type="datetimeFigureOut">
              <a:rPr lang="en-US" smtClean="0"/>
              <a:t>11/4/2025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C9BC55-CD0D-910C-5249-CF8543218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BE1A7D-7961-20CB-6DFE-B56BFD3B4B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FC4AD0-DD7A-42DB-A9BB-8981E41EB4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0872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6CA128-D09A-C8CC-F5CD-87FFC463ED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6088" y="674493"/>
            <a:ext cx="9374155" cy="3151057"/>
          </a:xfrm>
        </p:spPr>
        <p:txBody>
          <a:bodyPr>
            <a:noAutofit/>
          </a:bodyPr>
          <a:lstStyle/>
          <a:p>
            <a:r>
              <a:rPr lang="en-US" sz="4400" b="1" dirty="0">
                <a:solidFill>
                  <a:srgbClr val="002060"/>
                </a:solidFill>
                <a:latin typeface="Consolas" panose="020B0609020204030204" pitchFamily="49" charset="0"/>
              </a:rPr>
              <a:t>Intelligence-Driven Defense: CTI &amp; APTs Targeting FinTech in Egypt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482F43B-2B36-3756-9D46-307F6864C0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06663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EE0B16-117C-07B4-CF21-54894F8559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What is Cyber Threat Intelligence (CTI)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32D176-C1C8-90F5-6A42-5F1CA1DFB3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sz="3200" dirty="0">
              <a:solidFill>
                <a:srgbClr val="002060"/>
              </a:solidFill>
              <a:latin typeface="Consolas" panose="020B0609020204030204" pitchFamily="49" charset="0"/>
            </a:endParaRPr>
          </a:p>
          <a:p>
            <a:r>
              <a:rPr lang="en-US" sz="3200" dirty="0">
                <a:solidFill>
                  <a:srgbClr val="002060"/>
                </a:solidFill>
                <a:latin typeface="Consolas" panose="020B0609020204030204" pitchFamily="49" charset="0"/>
              </a:rPr>
              <a:t>CTI = Actionable knowledge about adversaries’ capabilities, intentions, and opportunities.</a:t>
            </a:r>
          </a:p>
        </p:txBody>
      </p:sp>
    </p:spTree>
    <p:extLst>
      <p:ext uri="{BB962C8B-B14F-4D97-AF65-F5344CB8AC3E}">
        <p14:creationId xmlns:p14="http://schemas.microsoft.com/office/powerpoint/2010/main" val="30799968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B0C443-0EB9-E04A-8B82-87A1442513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onsolas" panose="020B0609020204030204" pitchFamily="49" charset="0"/>
              </a:rPr>
              <a:t>Why FinTech is a Prime Target 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784358-7D7C-0AAD-C41F-C0B1E34930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2060"/>
                </a:solidFill>
                <a:latin typeface="Consolas" panose="020B0609020204030204" pitchFamily="49" charset="0"/>
              </a:rPr>
              <a:t>Fully digital financial ecosystem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2060"/>
                </a:solidFill>
                <a:latin typeface="Consolas" panose="020B0609020204030204" pitchFamily="49" charset="0"/>
              </a:rPr>
              <a:t>APIs and integrations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2060"/>
                </a:solidFill>
                <a:latin typeface="Consolas" panose="020B0609020204030204" pitchFamily="49" charset="0"/>
              </a:rPr>
              <a:t>Fast innovation, new risks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2060"/>
                </a:solidFill>
                <a:latin typeface="Consolas" panose="020B0609020204030204" pitchFamily="49" charset="0"/>
              </a:rPr>
              <a:t>High reward for attackers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24509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71530-ED82-3924-A436-756905141B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onsolas" panose="020B0609020204030204" pitchFamily="49" charset="0"/>
              </a:rPr>
              <a:t>Threat Landscape in Egypt &amp; the Middle East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E582F8-C224-1BE7-D7F7-C1E2029056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2060"/>
                </a:solidFill>
                <a:latin typeface="Consolas" panose="020B0609020204030204" pitchFamily="49" charset="0"/>
              </a:rPr>
              <a:t>APT34, APT39 (</a:t>
            </a:r>
            <a:r>
              <a:rPr lang="en-US" dirty="0" err="1">
                <a:solidFill>
                  <a:srgbClr val="002060"/>
                </a:solidFill>
                <a:latin typeface="Consolas" panose="020B0609020204030204" pitchFamily="49" charset="0"/>
              </a:rPr>
              <a:t>OilRig</a:t>
            </a:r>
            <a:r>
              <a:rPr lang="en-US" dirty="0">
                <a:solidFill>
                  <a:srgbClr val="002060"/>
                </a:solidFill>
                <a:latin typeface="Consolas" panose="020B0609020204030204" pitchFamily="49" charset="0"/>
              </a:rPr>
              <a:t>, Chafer) targeting regional finance</a:t>
            </a:r>
          </a:p>
          <a:p>
            <a:r>
              <a:rPr lang="en-US" dirty="0">
                <a:solidFill>
                  <a:srgbClr val="002060"/>
                </a:solidFill>
                <a:latin typeface="Consolas" panose="020B0609020204030204" pitchFamily="49" charset="0"/>
              </a:rPr>
              <a:t>Lazarus APT38 crypto-focused campaigns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2060"/>
                </a:solidFill>
                <a:latin typeface="Consolas" panose="020B0609020204030204" pitchFamily="49" charset="0"/>
              </a:rPr>
              <a:t>Arabic-language phishing mimicking banks/regulators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2060"/>
                </a:solidFill>
                <a:latin typeface="Consolas" panose="020B0609020204030204" pitchFamily="49" charset="0"/>
              </a:rPr>
              <a:t>API-based attacks on payment systems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10932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968A7-C24A-A4F4-7486-8D1AE09947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onsolas" panose="020B0609020204030204" pitchFamily="49" charset="0"/>
              </a:rPr>
              <a:t>How APTs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47CF94-56BE-A258-9D54-199449E7A4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2060"/>
                </a:solidFill>
                <a:latin typeface="Consolas" panose="020B0609020204030204" pitchFamily="49" charset="0"/>
              </a:rPr>
              <a:t>Reconnaissance</a:t>
            </a:r>
          </a:p>
          <a:p>
            <a:r>
              <a:rPr lang="en-US" dirty="0">
                <a:solidFill>
                  <a:srgbClr val="002060"/>
                </a:solidFill>
                <a:latin typeface="Consolas" panose="020B0609020204030204" pitchFamily="49" charset="0"/>
              </a:rPr>
              <a:t>Initial access (phishing, exploits, credentials)</a:t>
            </a:r>
          </a:p>
          <a:p>
            <a:r>
              <a:rPr lang="en-US" dirty="0">
                <a:solidFill>
                  <a:srgbClr val="002060"/>
                </a:solidFill>
                <a:latin typeface="Consolas" panose="020B0609020204030204" pitchFamily="49" charset="0"/>
              </a:rPr>
              <a:t>Lateral movement</a:t>
            </a:r>
          </a:p>
          <a:p>
            <a:r>
              <a:rPr lang="en-US" dirty="0">
                <a:solidFill>
                  <a:srgbClr val="002060"/>
                </a:solidFill>
                <a:latin typeface="Consolas" panose="020B0609020204030204" pitchFamily="49" charset="0"/>
              </a:rPr>
              <a:t>Data exfiltration</a:t>
            </a:r>
          </a:p>
          <a:p>
            <a:r>
              <a:rPr lang="en-US" dirty="0">
                <a:solidFill>
                  <a:srgbClr val="002060"/>
                </a:solidFill>
                <a:latin typeface="Consolas" panose="020B0609020204030204" pitchFamily="49" charset="0"/>
              </a:rPr>
              <a:t>Persistence</a:t>
            </a:r>
          </a:p>
        </p:txBody>
      </p:sp>
    </p:spTree>
    <p:extLst>
      <p:ext uri="{BB962C8B-B14F-4D97-AF65-F5344CB8AC3E}">
        <p14:creationId xmlns:p14="http://schemas.microsoft.com/office/powerpoint/2010/main" val="32404356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36186-46BC-96CB-D7DD-37566F5FC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onsolas" panose="020B0609020204030204" pitchFamily="49" charset="0"/>
              </a:rPr>
              <a:t>What is CTI and Why It Matters for SOC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ED18CB-16E8-E656-BBFE-403F79C07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dirty="0">
                <a:solidFill>
                  <a:srgbClr val="002060"/>
                </a:solidFill>
                <a:latin typeface="Consolas" panose="020B0609020204030204" pitchFamily="49" charset="0"/>
              </a:rPr>
              <a:t>CTI = Turning threat data into actionable defense decisions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5907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39860-E795-B985-2233-BBB4A16C4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onsolas" panose="020B0609020204030204" pitchFamily="49" charset="0"/>
              </a:rPr>
              <a:t>How the Intelligence Cycle Helps SOC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87CA8F-6FCD-3566-D633-4F61E3E5BB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2060"/>
                </a:solidFill>
                <a:latin typeface="Consolas" panose="020B0609020204030204" pitchFamily="49" charset="0"/>
              </a:rPr>
              <a:t>Planning – define questions</a:t>
            </a:r>
          </a:p>
          <a:p>
            <a:r>
              <a:rPr lang="en-US" dirty="0">
                <a:solidFill>
                  <a:srgbClr val="002060"/>
                </a:solidFill>
                <a:latin typeface="Consolas" panose="020B0609020204030204" pitchFamily="49" charset="0"/>
              </a:rPr>
              <a:t>Collection – internal + external data</a:t>
            </a:r>
          </a:p>
          <a:p>
            <a:r>
              <a:rPr lang="en-US" dirty="0">
                <a:solidFill>
                  <a:srgbClr val="002060"/>
                </a:solidFill>
                <a:latin typeface="Consolas" panose="020B0609020204030204" pitchFamily="49" charset="0"/>
              </a:rPr>
              <a:t>Analysis – correlation &amp; context</a:t>
            </a:r>
          </a:p>
          <a:p>
            <a:r>
              <a:rPr lang="en-US" dirty="0">
                <a:solidFill>
                  <a:srgbClr val="002060"/>
                </a:solidFill>
                <a:latin typeface="Consolas" panose="020B0609020204030204" pitchFamily="49" charset="0"/>
              </a:rPr>
              <a:t>Action – use intel in detection &amp; response</a:t>
            </a:r>
          </a:p>
        </p:txBody>
      </p:sp>
    </p:spTree>
    <p:extLst>
      <p:ext uri="{BB962C8B-B14F-4D97-AF65-F5344CB8AC3E}">
        <p14:creationId xmlns:p14="http://schemas.microsoft.com/office/powerpoint/2010/main" val="23542252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9DA74-373F-C70A-3948-1A96D30EFA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CTI in SOC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2D0B96-C0E9-611A-8FB0-303852446B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2060"/>
                </a:solidFill>
                <a:latin typeface="Consolas" panose="020B0609020204030204" pitchFamily="49" charset="0"/>
              </a:rPr>
              <a:t>Enhance alert triage</a:t>
            </a:r>
          </a:p>
          <a:p>
            <a:r>
              <a:rPr lang="en-US" dirty="0">
                <a:solidFill>
                  <a:srgbClr val="002060"/>
                </a:solidFill>
                <a:latin typeface="Consolas" panose="020B0609020204030204" pitchFamily="49" charset="0"/>
              </a:rPr>
              <a:t>Prioritize incidents</a:t>
            </a:r>
          </a:p>
          <a:p>
            <a:r>
              <a:rPr lang="en-US" dirty="0">
                <a:solidFill>
                  <a:srgbClr val="002060"/>
                </a:solidFill>
                <a:latin typeface="Consolas" panose="020B0609020204030204" pitchFamily="49" charset="0"/>
              </a:rPr>
              <a:t>Enrich investigations</a:t>
            </a:r>
          </a:p>
          <a:p>
            <a:r>
              <a:rPr lang="en-US" dirty="0">
                <a:solidFill>
                  <a:srgbClr val="002060"/>
                </a:solidFill>
                <a:latin typeface="Consolas" panose="020B0609020204030204" pitchFamily="49" charset="0"/>
              </a:rPr>
              <a:t>Update detection rules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14291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E37948-8AF4-62BB-B73F-1478280CA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Threat Modeling for Egyptian FinTech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28D8BB-BE62-8E6F-6025-4D64D2282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2060"/>
                </a:solidFill>
                <a:latin typeface="Consolas" panose="020B0609020204030204" pitchFamily="49" charset="0"/>
              </a:rPr>
              <a:t>Identify critical assets (APIs, mobile apps, databases)</a:t>
            </a:r>
          </a:p>
          <a:p>
            <a:r>
              <a:rPr lang="en-US" dirty="0">
                <a:solidFill>
                  <a:srgbClr val="002060"/>
                </a:solidFill>
                <a:latin typeface="Consolas" panose="020B0609020204030204" pitchFamily="49" charset="0"/>
              </a:rPr>
              <a:t>Map attack vectors</a:t>
            </a:r>
          </a:p>
          <a:p>
            <a:r>
              <a:rPr lang="en-US" dirty="0">
                <a:solidFill>
                  <a:srgbClr val="002060"/>
                </a:solidFill>
                <a:latin typeface="Consolas" panose="020B0609020204030204" pitchFamily="49" charset="0"/>
              </a:rPr>
              <a:t>Align defenses with MITRE ATT&amp;CK</a:t>
            </a:r>
          </a:p>
        </p:txBody>
      </p:sp>
    </p:spTree>
    <p:extLst>
      <p:ext uri="{BB962C8B-B14F-4D97-AF65-F5344CB8AC3E}">
        <p14:creationId xmlns:p14="http://schemas.microsoft.com/office/powerpoint/2010/main" val="7965227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5C5DB-1AAC-3F01-CA4E-1F38B3DDB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</a:rPr>
              <a:t>Intelligence-Driven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04DC4E-594F-2B65-805F-7FD9944CB2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2060"/>
                </a:solidFill>
                <a:latin typeface="Consolas" panose="020B0609020204030204" pitchFamily="49" charset="0"/>
              </a:rPr>
              <a:t>Behavior over Indicators</a:t>
            </a:r>
          </a:p>
          <a:p>
            <a:r>
              <a:rPr lang="en-US" dirty="0">
                <a:solidFill>
                  <a:srgbClr val="002060"/>
                </a:solidFill>
                <a:latin typeface="Consolas" panose="020B0609020204030204" pitchFamily="49" charset="0"/>
              </a:rPr>
              <a:t>TTP-based correlation</a:t>
            </a:r>
          </a:p>
          <a:p>
            <a:r>
              <a:rPr lang="en-US" dirty="0">
                <a:solidFill>
                  <a:srgbClr val="002060"/>
                </a:solidFill>
                <a:latin typeface="Consolas" panose="020B0609020204030204" pitchFamily="49" charset="0"/>
              </a:rPr>
              <a:t>Continuous intel updates</a:t>
            </a:r>
          </a:p>
        </p:txBody>
      </p:sp>
    </p:spTree>
    <p:extLst>
      <p:ext uri="{BB962C8B-B14F-4D97-AF65-F5344CB8AC3E}">
        <p14:creationId xmlns:p14="http://schemas.microsoft.com/office/powerpoint/2010/main" val="11605948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FBEC14-E9AA-7B76-A551-1DDF58151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Threat Hunting with CTI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F5979C-F259-0785-0487-7D56591824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3600" dirty="0">
                <a:solidFill>
                  <a:srgbClr val="002060"/>
                </a:solidFill>
              </a:rPr>
              <a:t>Hypothesis-based hunting</a:t>
            </a:r>
          </a:p>
          <a:p>
            <a:r>
              <a:rPr lang="en-US" sz="3600" dirty="0">
                <a:solidFill>
                  <a:srgbClr val="002060"/>
                </a:solidFill>
              </a:rPr>
              <a:t>Use intel to focus hunts</a:t>
            </a:r>
          </a:p>
          <a:p>
            <a:r>
              <a:rPr lang="en-US" sz="3600" dirty="0">
                <a:solidFill>
                  <a:srgbClr val="002060"/>
                </a:solidFill>
              </a:rPr>
              <a:t>Learn and feed back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37013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2BB8FD-7BC1-9721-FC67-04AD2CF45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Study: </a:t>
            </a:r>
            <a:r>
              <a:rPr lang="en-US" dirty="0" err="1"/>
              <a:t>Fawry</a:t>
            </a:r>
            <a:r>
              <a:rPr lang="en-US" dirty="0"/>
              <a:t> Data Breach (Egypt, 2023)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EE05A9-9C09-471D-F713-CAFC78FF95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sz="3200" b="1" dirty="0">
                <a:solidFill>
                  <a:srgbClr val="002060"/>
                </a:solidFill>
              </a:rPr>
              <a:t>Case Study: </a:t>
            </a:r>
            <a:r>
              <a:rPr lang="en-US" sz="3200" b="1" dirty="0" err="1">
                <a:solidFill>
                  <a:srgbClr val="002060"/>
                </a:solidFill>
              </a:rPr>
              <a:t>Fawry</a:t>
            </a:r>
            <a:r>
              <a:rPr lang="en-US" sz="3200" b="1" dirty="0">
                <a:solidFill>
                  <a:srgbClr val="002060"/>
                </a:solidFill>
              </a:rPr>
              <a:t> Data Breach – Egypt (2023)</a:t>
            </a:r>
            <a:endParaRPr lang="en-US" sz="3200" dirty="0">
              <a:solidFill>
                <a:srgbClr val="002060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 err="1">
                <a:solidFill>
                  <a:srgbClr val="002060"/>
                </a:solidFill>
              </a:rPr>
              <a:t>LockBit</a:t>
            </a:r>
            <a:r>
              <a:rPr lang="en-US" sz="3200" dirty="0">
                <a:solidFill>
                  <a:srgbClr val="002060"/>
                </a:solidFill>
              </a:rPr>
              <a:t> ransomware claimed attack on </a:t>
            </a:r>
            <a:r>
              <a:rPr lang="en-US" sz="3200" dirty="0" err="1">
                <a:solidFill>
                  <a:srgbClr val="002060"/>
                </a:solidFill>
              </a:rPr>
              <a:t>Fawry</a:t>
            </a:r>
            <a:endParaRPr lang="en-US" sz="3200" dirty="0">
              <a:solidFill>
                <a:srgbClr val="002060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2060"/>
                </a:solidFill>
              </a:rPr>
              <a:t>Breach in testing environment, not production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2060"/>
                </a:solidFill>
              </a:rPr>
              <a:t>Limited non-financial data leaked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2060"/>
                </a:solidFill>
              </a:rPr>
              <a:t>Exposed weakness: unprotected non-prod systems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93459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77DA1-49B3-9797-00CC-1FD3C45C7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Simulated APT Attack: FinTech Egypt Scenario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5BEBA-FEC3-F1FF-E79C-52F2FA0962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3200" b="1" dirty="0">
                <a:solidFill>
                  <a:srgbClr val="002060"/>
                </a:solidFill>
              </a:rPr>
              <a:t>Simulated APT Attack on a FinTech Company (Egypt)</a:t>
            </a:r>
            <a:endParaRPr lang="en-US" sz="3200" dirty="0">
              <a:solidFill>
                <a:srgbClr val="002060"/>
              </a:solidFill>
            </a:endParaRPr>
          </a:p>
          <a:p>
            <a:r>
              <a:rPr lang="en-US" sz="3200" b="1" dirty="0">
                <a:solidFill>
                  <a:srgbClr val="002060"/>
                </a:solidFill>
              </a:rPr>
              <a:t>Stage 1:</a:t>
            </a:r>
            <a:r>
              <a:rPr lang="en-US" sz="3200" dirty="0">
                <a:solidFill>
                  <a:srgbClr val="002060"/>
                </a:solidFill>
              </a:rPr>
              <a:t> Recon &amp; Spear-phishing developer</a:t>
            </a:r>
          </a:p>
          <a:p>
            <a:r>
              <a:rPr lang="en-US" sz="3200" b="1" dirty="0">
                <a:solidFill>
                  <a:srgbClr val="002060"/>
                </a:solidFill>
              </a:rPr>
              <a:t>Stage 2:</a:t>
            </a:r>
            <a:r>
              <a:rPr lang="en-US" sz="3200" dirty="0">
                <a:solidFill>
                  <a:srgbClr val="002060"/>
                </a:solidFill>
              </a:rPr>
              <a:t> Initial access via malicious file or leaked API key</a:t>
            </a:r>
          </a:p>
          <a:p>
            <a:r>
              <a:rPr lang="en-US" sz="3200" b="1" dirty="0">
                <a:solidFill>
                  <a:srgbClr val="002060"/>
                </a:solidFill>
              </a:rPr>
              <a:t>Stage 3:</a:t>
            </a:r>
            <a:r>
              <a:rPr lang="en-US" sz="3200" dirty="0">
                <a:solidFill>
                  <a:srgbClr val="002060"/>
                </a:solidFill>
              </a:rPr>
              <a:t> Lateral movement &amp; credential dumping</a:t>
            </a:r>
          </a:p>
          <a:p>
            <a:r>
              <a:rPr lang="en-US" sz="3200" b="1" dirty="0">
                <a:solidFill>
                  <a:srgbClr val="002060"/>
                </a:solidFill>
              </a:rPr>
              <a:t>Stage 4:</a:t>
            </a:r>
            <a:r>
              <a:rPr lang="en-US" sz="3200" dirty="0">
                <a:solidFill>
                  <a:srgbClr val="002060"/>
                </a:solidFill>
              </a:rPr>
              <a:t> Data exfiltration / ransomware deployment</a:t>
            </a:r>
          </a:p>
          <a:p>
            <a:r>
              <a:rPr lang="en-US" sz="3200" b="1" dirty="0">
                <a:solidFill>
                  <a:srgbClr val="002060"/>
                </a:solidFill>
              </a:rPr>
              <a:t>Stage 5:</a:t>
            </a:r>
            <a:r>
              <a:rPr lang="en-US" sz="3200" dirty="0">
                <a:solidFill>
                  <a:srgbClr val="002060"/>
                </a:solidFill>
              </a:rPr>
              <a:t> SOC detects, correlates via CTI, responds via SOAR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80210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90D78-51FC-C963-6D7C-AF73EE34DC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FF0000"/>
                </a:solidFill>
              </a:rPr>
              <a:t>The Misconception: CTI = Just Feeds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BE24EA-7855-E31F-0AE7-C06B44C19A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3200" b="1" dirty="0">
                <a:solidFill>
                  <a:srgbClr val="002060"/>
                </a:solidFill>
              </a:rPr>
              <a:t>Common CTI Misconception:</a:t>
            </a:r>
            <a:endParaRPr lang="en-US" sz="3200" dirty="0">
              <a:solidFill>
                <a:srgbClr val="002060"/>
              </a:solidFill>
            </a:endParaRPr>
          </a:p>
          <a:p>
            <a:r>
              <a:rPr lang="en-US" sz="3200" dirty="0">
                <a:solidFill>
                  <a:srgbClr val="002060"/>
                </a:solidFill>
              </a:rPr>
              <a:t>Many orgs treat CTI as IOCs feed → SIEM/EDR ingestion</a:t>
            </a:r>
          </a:p>
          <a:p>
            <a:r>
              <a:rPr lang="en-US" sz="3200" dirty="0">
                <a:solidFill>
                  <a:srgbClr val="002060"/>
                </a:solidFill>
              </a:rPr>
              <a:t>Result: noise, false positives, low business value</a:t>
            </a:r>
          </a:p>
          <a:p>
            <a:r>
              <a:rPr lang="en-US" sz="3200" dirty="0">
                <a:solidFill>
                  <a:srgbClr val="002060"/>
                </a:solidFill>
              </a:rPr>
              <a:t>CTI ≠ blocklist → CTI = context-driven decision system</a:t>
            </a:r>
          </a:p>
          <a:p>
            <a:r>
              <a:rPr lang="en-US" sz="3200" dirty="0">
                <a:solidFill>
                  <a:srgbClr val="002060"/>
                </a:solidFill>
              </a:rPr>
              <a:t>Tailor intelligence per stakeholder needs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87350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BEDC6-0CAB-4AB9-ABF2-316FACFFC1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Tailored CTI Per Team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B3DD16-568D-CB64-518C-9D7E0B1BA7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SOC / IR:</a:t>
            </a:r>
            <a:r>
              <a:rPr lang="en-US" dirty="0">
                <a:solidFill>
                  <a:srgbClr val="002060"/>
                </a:solidFill>
              </a:rPr>
              <a:t> Weekly situational awareness</a:t>
            </a:r>
          </a:p>
          <a:p>
            <a:r>
              <a:rPr lang="en-US" dirty="0">
                <a:solidFill>
                  <a:srgbClr val="002060"/>
                </a:solidFill>
              </a:rPr>
              <a:t>Active campaigns</a:t>
            </a:r>
          </a:p>
          <a:p>
            <a:r>
              <a:rPr lang="en-US" dirty="0">
                <a:solidFill>
                  <a:srgbClr val="002060"/>
                </a:solidFill>
              </a:rPr>
              <a:t>New malware trends</a:t>
            </a:r>
          </a:p>
          <a:p>
            <a:r>
              <a:rPr lang="en-US" dirty="0">
                <a:solidFill>
                  <a:srgbClr val="002060"/>
                </a:solidFill>
              </a:rPr>
              <a:t>Actionable warnings</a:t>
            </a:r>
          </a:p>
          <a:p>
            <a:r>
              <a:rPr lang="en-US" b="1" dirty="0">
                <a:solidFill>
                  <a:srgbClr val="002060"/>
                </a:solidFill>
              </a:rPr>
              <a:t>Detection Engineering:</a:t>
            </a:r>
            <a:endParaRPr lang="en-US" dirty="0">
              <a:solidFill>
                <a:srgbClr val="002060"/>
              </a:solidFill>
            </a:endParaRPr>
          </a:p>
          <a:p>
            <a:r>
              <a:rPr lang="en-US" dirty="0">
                <a:solidFill>
                  <a:srgbClr val="002060"/>
                </a:solidFill>
              </a:rPr>
              <a:t>TTPs, not IOCs</a:t>
            </a:r>
          </a:p>
          <a:p>
            <a:r>
              <a:rPr lang="en-US" dirty="0">
                <a:solidFill>
                  <a:srgbClr val="002060"/>
                </a:solidFill>
              </a:rPr>
              <a:t>Threat profile by sector/geography/tech</a:t>
            </a:r>
          </a:p>
          <a:p>
            <a:r>
              <a:rPr lang="en-US" dirty="0">
                <a:solidFill>
                  <a:srgbClr val="002060"/>
                </a:solidFill>
              </a:rPr>
              <a:t>Gap analysis (rule vs TTP coverage)</a:t>
            </a:r>
          </a:p>
          <a:p>
            <a:r>
              <a:rPr lang="en-US" b="1" dirty="0">
                <a:solidFill>
                  <a:srgbClr val="002060"/>
                </a:solidFill>
              </a:rPr>
              <a:t>No TI Analyst?</a:t>
            </a:r>
            <a:r>
              <a:rPr lang="en-US" dirty="0">
                <a:solidFill>
                  <a:srgbClr val="002060"/>
                </a:solidFill>
              </a:rPr>
              <a:t> → TI Duty Rotation</a:t>
            </a:r>
          </a:p>
          <a:p>
            <a:r>
              <a:rPr lang="en-US" dirty="0">
                <a:solidFill>
                  <a:srgbClr val="002060"/>
                </a:solidFill>
              </a:rPr>
              <a:t>Weekly TI Officer collects, analyzes, reports</a:t>
            </a:r>
          </a:p>
          <a:p>
            <a:r>
              <a:rPr lang="en-US" dirty="0">
                <a:solidFill>
                  <a:srgbClr val="002060"/>
                </a:solidFill>
              </a:rPr>
              <a:t>Creates small SA brief + action list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44122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DC1F5-93D5-C268-7DC9-C5AC28B53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Lessons Learned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C82E6-B5AD-E21E-95B2-E18B33BE45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sz="3200" b="1" dirty="0">
                <a:solidFill>
                  <a:srgbClr val="002060"/>
                </a:solidFill>
              </a:rPr>
              <a:t>Lessons Learned from Real &amp; Simulated Incidents:</a:t>
            </a:r>
            <a:endParaRPr lang="en-US" sz="3200" dirty="0">
              <a:solidFill>
                <a:srgbClr val="002060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2060"/>
                </a:solidFill>
              </a:rPr>
              <a:t>Non-production = attack surface too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2060"/>
                </a:solidFill>
              </a:rPr>
              <a:t>Continuous CTI integration is vital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2060"/>
                </a:solidFill>
              </a:rPr>
              <a:t>SOC + Threat Intel = proactive defense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2060"/>
                </a:solidFill>
              </a:rPr>
              <a:t>Local intel (Egypt/MENA) adds real value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3876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E1EC5-F74A-E6DF-2CF6-FFCFB16EB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8046F6-241F-AD49-9573-8FF837074E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rgbClr val="002060"/>
                </a:solidFill>
              </a:rPr>
              <a:t>FinTech = High-value target</a:t>
            </a:r>
            <a:br>
              <a:rPr lang="en-US" sz="3200" dirty="0">
                <a:solidFill>
                  <a:srgbClr val="002060"/>
                </a:solidFill>
              </a:rPr>
            </a:br>
            <a:r>
              <a:rPr lang="en-US" sz="3200" dirty="0">
                <a:solidFill>
                  <a:srgbClr val="002060"/>
                </a:solidFill>
              </a:rPr>
              <a:t>CTI = Predictive defense</a:t>
            </a:r>
            <a:br>
              <a:rPr lang="en-US" sz="3200" dirty="0">
                <a:solidFill>
                  <a:srgbClr val="002060"/>
                </a:solidFill>
              </a:rPr>
            </a:br>
            <a:r>
              <a:rPr lang="en-US" sz="3200" dirty="0">
                <a:solidFill>
                  <a:srgbClr val="002060"/>
                </a:solidFill>
              </a:rPr>
              <a:t>“Intelligence is not data… it’s understanding.”</a:t>
            </a:r>
          </a:p>
          <a:p>
            <a:endParaRPr lang="en-US" sz="3200" dirty="0">
              <a:solidFill>
                <a:srgbClr val="00206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002060"/>
                </a:solidFill>
              </a:rPr>
              <a:t>“Threat Intelligence is not about knowing everything it’s about knowing what matters most to you.”</a:t>
            </a:r>
          </a:p>
        </p:txBody>
      </p:sp>
    </p:spTree>
    <p:extLst>
      <p:ext uri="{BB962C8B-B14F-4D97-AF65-F5344CB8AC3E}">
        <p14:creationId xmlns:p14="http://schemas.microsoft.com/office/powerpoint/2010/main" val="13745296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</TotalTime>
  <Words>514</Words>
  <Application>Microsoft Office PowerPoint</Application>
  <PresentationFormat>Widescreen</PresentationFormat>
  <Paragraphs>85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Calibri Light</vt:lpstr>
      <vt:lpstr>Consolas</vt:lpstr>
      <vt:lpstr>Office Theme</vt:lpstr>
      <vt:lpstr>Intelligence-Driven Defense: CTI &amp; APTs Targeting FinTech in Egypt</vt:lpstr>
      <vt:lpstr>What is Cyber Threat Intelligence (CTI)</vt:lpstr>
      <vt:lpstr>Why FinTech is a Prime Target ?</vt:lpstr>
      <vt:lpstr>Threat Landscape in Egypt &amp; the Middle East</vt:lpstr>
      <vt:lpstr>How APTs Work</vt:lpstr>
      <vt:lpstr>What is CTI and Why It Matters for SOC</vt:lpstr>
      <vt:lpstr>How the Intelligence Cycle Helps SOC</vt:lpstr>
      <vt:lpstr>CTI in SOC Operations</vt:lpstr>
      <vt:lpstr>Threat Modeling for Egyptian FinTech</vt:lpstr>
      <vt:lpstr>Intelligence-Driven Detection</vt:lpstr>
      <vt:lpstr>Threat Hunting with CTI</vt:lpstr>
      <vt:lpstr>Case Study: Fawry Data Breach (Egypt, 2023)</vt:lpstr>
      <vt:lpstr>Simulated APT Attack: FinTech Egypt Scenario</vt:lpstr>
      <vt:lpstr>The Misconception: CTI = Just Feeds</vt:lpstr>
      <vt:lpstr>Tailored CTI Per Team</vt:lpstr>
      <vt:lpstr>Lessons Learned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Ghada Abdel Wahab</dc:creator>
  <cp:lastModifiedBy>Ghada Abdel Wahab</cp:lastModifiedBy>
  <cp:revision>1</cp:revision>
  <dcterms:created xsi:type="dcterms:W3CDTF">2025-11-04T15:04:46Z</dcterms:created>
  <dcterms:modified xsi:type="dcterms:W3CDTF">2025-11-04T16:40:24Z</dcterms:modified>
</cp:coreProperties>
</file>